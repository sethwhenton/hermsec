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e2824749794d38" /><Relationship Type="http://schemas.openxmlformats.org/officeDocument/2006/relationships/extended-properties" Target="/docProps/app.xml" Id="R69ba824bd3b04a00" /><Relationship Type="http://schemas.openxmlformats.org/officeDocument/2006/relationships/officeDocument" Target="/ppt/presentation.xml" Id="Ra2452d9ef93a43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1732929cf44f9a"/>
  </p:sldMasterIdLst>
  <p:notesMasterIdLst>
    <p:notesMasterId xmlns:r="http://schemas.openxmlformats.org/officeDocument/2006/relationships" r:id="Rdf27d24c5576407a"/>
  </p:notesMasterIdLst>
  <p:sldIdLst>
    <p:sldId xmlns:r="http://schemas.openxmlformats.org/officeDocument/2006/relationships" id="256" r:id="R5e40b08b35bf42d1"/>
    <p:sldId xmlns:r="http://schemas.openxmlformats.org/officeDocument/2006/relationships" id="257" r:id="R10e7638e98344e7c"/>
    <p:sldId xmlns:r="http://schemas.openxmlformats.org/officeDocument/2006/relationships" id="258" r:id="Rf3be08cf68314077"/>
    <p:sldId xmlns:r="http://schemas.openxmlformats.org/officeDocument/2006/relationships" id="259" r:id="Rb1954bb52c4849ca"/>
    <p:sldId xmlns:r="http://schemas.openxmlformats.org/officeDocument/2006/relationships" id="260" r:id="R86d3b746f4954b23"/>
    <p:sldId xmlns:r="http://schemas.openxmlformats.org/officeDocument/2006/relationships" id="261" r:id="R9d7052ceb93f4ab5"/>
    <p:sldId xmlns:r="http://schemas.openxmlformats.org/officeDocument/2006/relationships" id="262" r:id="R4e077211a0474a8f"/>
    <p:sldId xmlns:r="http://schemas.openxmlformats.org/officeDocument/2006/relationships" id="263" r:id="Rd9ada45681094403"/>
    <p:sldId xmlns:r="http://schemas.openxmlformats.org/officeDocument/2006/relationships" id="264" r:id="R80128fdbafb442bb"/>
    <p:sldId xmlns:r="http://schemas.openxmlformats.org/officeDocument/2006/relationships" id="265" r:id="R0eb2428ac3724967"/>
    <p:sldId xmlns:r="http://schemas.openxmlformats.org/officeDocument/2006/relationships" id="266" r:id="R7c6c2c06c86a4340"/>
    <p:sldId xmlns:r="http://schemas.openxmlformats.org/officeDocument/2006/relationships" id="267" r:id="Rf79c8af7a4ad49a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732929cf44f9a" /><Relationship Type="http://schemas.openxmlformats.org/officeDocument/2006/relationships/theme" Target="/ppt/theme/theme1.xml" Id="R8a67405f4f264d0c" /><Relationship Type="http://schemas.openxmlformats.org/officeDocument/2006/relationships/notesMaster" Target="/ppt/notesMasters/notesMaster1.xml" Id="Rdf27d24c5576407a" /><Relationship Type="http://schemas.openxmlformats.org/officeDocument/2006/relationships/presProps" Target="/ppt/presProps.xml" Id="Rc802b68a7ea94782" /><Relationship Type="http://schemas.openxmlformats.org/officeDocument/2006/relationships/viewProps" Target="/ppt/viewProps.xml" Id="R199caf4c588a4d48" /><Relationship Type="http://schemas.openxmlformats.org/officeDocument/2006/relationships/tableStyles" Target="/ppt/tableStyles.xml" Id="R36940403a62b4850" /><Relationship Type="http://schemas.openxmlformats.org/officeDocument/2006/relationships/slide" Target="/ppt/slides/slide1.xml" Id="R5e40b08b35bf42d1" /><Relationship Type="http://schemas.openxmlformats.org/officeDocument/2006/relationships/slide" Target="/ppt/slides/slide2.xml" Id="R10e7638e98344e7c" /><Relationship Type="http://schemas.openxmlformats.org/officeDocument/2006/relationships/slide" Target="/ppt/slides/slide3.xml" Id="Rf3be08cf68314077" /><Relationship Type="http://schemas.openxmlformats.org/officeDocument/2006/relationships/slide" Target="/ppt/slides/slide4.xml" Id="Rb1954bb52c4849ca" /><Relationship Type="http://schemas.openxmlformats.org/officeDocument/2006/relationships/slide" Target="/ppt/slides/slide5.xml" Id="R86d3b746f4954b23" /><Relationship Type="http://schemas.openxmlformats.org/officeDocument/2006/relationships/slide" Target="/ppt/slides/slide6.xml" Id="R9d7052ceb93f4ab5" /><Relationship Type="http://schemas.openxmlformats.org/officeDocument/2006/relationships/slide" Target="/ppt/slides/slide7.xml" Id="R4e077211a0474a8f" /><Relationship Type="http://schemas.openxmlformats.org/officeDocument/2006/relationships/slide" Target="/ppt/slides/slide8.xml" Id="Rd9ada45681094403" /><Relationship Type="http://schemas.openxmlformats.org/officeDocument/2006/relationships/slide" Target="/ppt/slides/slide9.xml" Id="R80128fdbafb442bb" /><Relationship Type="http://schemas.openxmlformats.org/officeDocument/2006/relationships/slide" Target="/ppt/slides/slide10.xml" Id="R0eb2428ac3724967" /><Relationship Type="http://schemas.openxmlformats.org/officeDocument/2006/relationships/slide" Target="/ppt/slides/slide11.xml" Id="R7c6c2c06c86a4340" /><Relationship Type="http://schemas.openxmlformats.org/officeDocument/2006/relationships/slide" Target="/ppt/slides/slide12.xml" Id="Rf79c8af7a4ad49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3f868b091744f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5de0336ae74c33" /><Relationship Type="http://schemas.openxmlformats.org/officeDocument/2006/relationships/notesMaster" Target="/ppt/notesMasters/notesMaster1.xml" Id="R6db613552ab243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922b37342248f4" /><Relationship Type="http://schemas.openxmlformats.org/officeDocument/2006/relationships/notesMaster" Target="/ppt/notesMasters/notesMaster1.xml" Id="R19042d6a57be43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122474ff1f4a03" /><Relationship Type="http://schemas.openxmlformats.org/officeDocument/2006/relationships/notesMaster" Target="/ppt/notesMasters/notesMaster1.xml" Id="Rf2b9e7e614e54c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e7331c2f7f4361" /><Relationship Type="http://schemas.openxmlformats.org/officeDocument/2006/relationships/notesMaster" Target="/ppt/notesMasters/notesMaster1.xml" Id="R0ade5857bded4a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287ff0debc4ff0" /><Relationship Type="http://schemas.openxmlformats.org/officeDocument/2006/relationships/notesMaster" Target="/ppt/notesMasters/notesMaster1.xml" Id="Rbc9e9a9dfc2543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5c18efcbbb42f1" /><Relationship Type="http://schemas.openxmlformats.org/officeDocument/2006/relationships/notesMaster" Target="/ppt/notesMasters/notesMaster1.xml" Id="R50fd5e982cce44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5f29ae30c741c6" /><Relationship Type="http://schemas.openxmlformats.org/officeDocument/2006/relationships/notesMaster" Target="/ppt/notesMasters/notesMaster1.xml" Id="R16c6eefbdd2b4d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8c3aefbf9a48e4" /><Relationship Type="http://schemas.openxmlformats.org/officeDocument/2006/relationships/notesMaster" Target="/ppt/notesMasters/notesMaster1.xml" Id="R700fbd78315949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470f7a7f3942d2" /><Relationship Type="http://schemas.openxmlformats.org/officeDocument/2006/relationships/notesMaster" Target="/ppt/notesMasters/notesMaster1.xml" Id="Re078141783964f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136fb4dea14ced" /><Relationship Type="http://schemas.openxmlformats.org/officeDocument/2006/relationships/notesMaster" Target="/ppt/notesMasters/notesMaster1.xml" Id="Rb5c36c5fc4a041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8a05ce167d48e4" /><Relationship Type="http://schemas.openxmlformats.org/officeDocument/2006/relationships/notesMaster" Target="/ppt/notesMasters/notesMaster1.xml" Id="R53071fa65ec442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08fb3321cb49ea" /><Relationship Type="http://schemas.openxmlformats.org/officeDocument/2006/relationships/notesMaster" Target="/ppt/notesMasters/notesMaster1.xml" Id="Rbc625aef60754b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6df2d2321416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703c133d7ed4b45" /><Relationship Type="http://schemas.openxmlformats.org/officeDocument/2006/relationships/slideLayout" Target="/ppt/slideLayouts/slideLayout2.xml" Id="Rf483bb771f4949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3bb771f4949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2366e3817a4a50" /><Relationship Type="http://schemas.openxmlformats.org/officeDocument/2006/relationships/notesSlide" Target="/ppt/notesSlides/notesSlide1.xml" Id="R39db834796944f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b7f61b2b684c47" /><Relationship Type="http://schemas.openxmlformats.org/officeDocument/2006/relationships/notesSlide" Target="/ppt/notesSlides/notesSlide2.xml" Id="R5ab23c9344ea4c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4c763c049d4913" /><Relationship Type="http://schemas.openxmlformats.org/officeDocument/2006/relationships/notesSlide" Target="/ppt/notesSlides/notesSlide3.xml" Id="R371f05cf06b84c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b2d8df2b064465" /><Relationship Type="http://schemas.openxmlformats.org/officeDocument/2006/relationships/notesSlide" Target="/ppt/notesSlides/notesSlide4.xml" Id="R11e03bc3514b47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01a14944fd4f9f" /><Relationship Type="http://schemas.openxmlformats.org/officeDocument/2006/relationships/image" Target="/ppt/media/image.png" Id="R531c62768ab449f1" /><Relationship Type="http://schemas.openxmlformats.org/officeDocument/2006/relationships/notesSlide" Target="/ppt/notesSlides/notesSlide5.xml" Id="Rc657d5bc10614d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1b6f143e0a46f5" /><Relationship Type="http://schemas.openxmlformats.org/officeDocument/2006/relationships/image" Target="/ppt/media/image2.png" Id="R10435c65bfb94c0d" /><Relationship Type="http://schemas.openxmlformats.org/officeDocument/2006/relationships/notesSlide" Target="/ppt/notesSlides/notesSlide6.xml" Id="R0a4c7eb594bb4e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a84044615a4882" /><Relationship Type="http://schemas.openxmlformats.org/officeDocument/2006/relationships/notesSlide" Target="/ppt/notesSlides/notesSlide7.xml" Id="Ra8de7a4fb49f41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159b23ce154a25" /><Relationship Type="http://schemas.openxmlformats.org/officeDocument/2006/relationships/image" Target="/ppt/media/image3.png" Id="R2d3fdbfeb89e4289" /><Relationship Type="http://schemas.openxmlformats.org/officeDocument/2006/relationships/notesSlide" Target="/ppt/notesSlides/notesSlide8.xml" Id="R0839e8e0075e4b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02bfc2bf0141a1" /><Relationship Type="http://schemas.openxmlformats.org/officeDocument/2006/relationships/notesSlide" Target="/ppt/notesSlides/notesSlide9.xml" Id="R06301d39ea6b46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39d9c85cf54398" /><Relationship Type="http://schemas.openxmlformats.org/officeDocument/2006/relationships/notesSlide" Target="/ppt/notesSlides/notesSlide10.xml" Id="R89dbb04b6e7f40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e637fa70d14653" /><Relationship Type="http://schemas.openxmlformats.org/officeDocument/2006/relationships/notesSlide" Target="/ppt/notesSlides/notesSlide11.xml" Id="R11bc0cbf140e46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5a9c64d56e4425" /><Relationship Type="http://schemas.openxmlformats.org/officeDocument/2006/relationships/notesSlide" Target="/ppt/notesSlides/notesSlide12.xml" Id="Ree2c050a685e45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5D03675-2576-4799-A27E-5EA3E1B2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BEC18-F8AD-4B34-BBCB-5E45BDC9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18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82FD4-DB7A-4862-B4CB-871DC911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GROUP G4 / UNIVERSITY OF PASSAU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D081BF9-0D60-46DF-82EF-A6872B92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1047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ML-based</a:t>
            </a:r>
          </a:p>
          <a:p xmlns:a="http://schemas.openxmlformats.org/drawingml/2006/main">
            <a:pPr algn="l">
              <a:defRPr sz="60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Python Source Code</a:t>
            </a:r>
          </a:p>
          <a:p xmlns:a="http://schemas.openxmlformats.org/drawingml/2006/main">
            <a:pPr algn="l">
              <a:defRPr sz="60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Vulnerabilities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2C92520-3E55-4F3D-B9A2-9EE7CD55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Security Insider Lab II / Task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80D93-37D0-40AC-8ECC-F43EC283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705600"/>
            <a:ext cx="590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Ghazal Pouresfandiyar Borojeni</a:t>
            </a:r>
          </a:p>
          <a:p xmlns:a="http://schemas.openxmlformats.org/drawingml/2006/main">
            <a:pPr algn="l">
              <a:defRPr sz="18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Seth Whenton</a:t>
            </a:r>
          </a:p>
          <a:p xmlns:a="http://schemas.openxmlformats.org/drawingml/2006/main">
            <a:pPr algn="l">
              <a:defRPr sz="18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29.04.2026</a:t>
            </a:r>
          </a:p>
        </p:txBody>
      </p:sp>
      <p:sp>
        <p:nvSpPr>
          <p:cNvPr id="7" name="cover-terminal">
            <a:extLst xmlns:a="http://schemas.openxmlformats.org/drawingml/2006/main">
              <a:ext uri="{FF2B5EF4-FFF2-40B4-BE49-F238E27FC236}">
                <a16:creationId xmlns:a16="http://schemas.microsoft.com/office/drawing/2014/main" id="{40AE66F4-A9D4-43E7-B1B0-D973D4EB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95500"/>
            <a:ext cx="5334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terminal-top">
            <a:extLst xmlns:a="http://schemas.openxmlformats.org/drawingml/2006/main">
              <a:ext uri="{FF2B5EF4-FFF2-40B4-BE49-F238E27FC236}">
                <a16:creationId xmlns:a16="http://schemas.microsoft.com/office/drawing/2014/main" id="{4867509F-87D4-4C3F-8670-D6EB58C2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</p:sp>
      <p:sp>
        <p:nvSpPr>
          <p:cNvPr id="9" name="terminal-command">
            <a:extLst xmlns:a="http://schemas.openxmlformats.org/drawingml/2006/main">
              <a:ext uri="{FF2B5EF4-FFF2-40B4-BE49-F238E27FC236}">
                <a16:creationId xmlns:a16="http://schemas.microsoft.com/office/drawing/2014/main" id="{01AED9D9-BC45-4CC0-9B5D-4CA3CFE5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55270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6C8D2"/>
                </a:solidFill>
                <a:latin typeface="Cascadia Mono"/>
                <a:ea typeface="Cascadia Mono"/>
                <a:cs typeface="Cascadia Mono"/>
              </a:defRPr>
            </a:pPr>
            <a:r>
              <a:t>&gt; train word2vec --corpus 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7D9B6-EE3E-4D27-9385-7609208B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6195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0" b="1" i="0">
                <a:solidFill>
                  <a:srgbClr val="0B1220"/>
                </a:solidFill>
                <a:latin typeface="Cascadia Mono"/>
                <a:ea typeface="Cascadia Mono"/>
                <a:cs typeface="Cascadia Mono"/>
              </a:defRPr>
            </a:pPr>
            <a:r>
              <a:t>SEC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A563C-CF86-4E69-AD18-F3A4FD63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8768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8279F-9567-4659-960E-2D329D06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56260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4584C-CA1A-4526-8B06-BBE6CAA8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924550"/>
            <a:ext cx="295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BCDED-D3AD-400C-B121-69D6E7E5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28650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/>
        </p:spPr>
      </p:sp>
      <p:sp>
        <p:nvSpPr>
          <p:cNvPr id="15" name="cover-cube">
            <a:extLst xmlns:a="http://schemas.openxmlformats.org/drawingml/2006/main">
              <a:ext uri="{FF2B5EF4-FFF2-40B4-BE49-F238E27FC236}">
                <a16:creationId xmlns:a16="http://schemas.microsoft.com/office/drawing/2014/main" id="{18C16595-FA9E-42ED-B6A1-BB9F6394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619500"/>
            <a:ext cx="76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FBFD"/>
          </a:solidFill>
          <a:ln xmlns:a="http://schemas.openxmlformats.org/drawingml/2006/main" w="9525">
            <a:solidFill>
              <a:srgbClr val="16C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7728D-AD95-43AE-8EB8-B90BC87A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695700"/>
            <a:ext cx="76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BFD"/>
          </a:solidFill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A8F99"/>
                </a:solidFill>
                <a:latin typeface="Aptos Display"/>
                <a:ea typeface="Aptos Display"/>
                <a:cs typeface="Aptos Display"/>
              </a:defRPr>
            </a:pPr>
            <a:r>
              <a:t>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4ABB5-A128-4AFE-BDDD-BFCE804B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44767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models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274F4-78A5-4544-A2B0-BAAAD76E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20200"/>
            <a:ext cx="1352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483B1-5953-4DBF-927A-3FB54CA6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4488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White-mode terminal aesthetic / clean evidence / minimal live-read slides</a:t>
            </a:r>
          </a:p>
        </p:txBody>
      </p:sp>
    </p:spTree>
    <p:extLst>
      <p:ext uri="{BB962C8B-B14F-4D97-AF65-F5344CB8AC3E}">
        <p14:creationId xmlns:p14="http://schemas.microsoft.com/office/powerpoint/2010/main" val="4665436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FA7F549-D946-478E-90F9-305A148D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AAF2A-5723-4D90-B93B-1884A033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896F1-8ACB-4786-923E-F4998A69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0050"/>
            <a:ext cx="22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/>
        </p:spPr>
      </p:sp>
      <p:sp>
        <p:nvSpPr>
          <p:cNvPr id="4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A5F62C77-4B1A-455C-AA65-3C6DDDED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57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SECURITY INSIDER LAB II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6E10D19C-2E4B-4265-BD8C-B1977491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WHAT THIS DECK PROVES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ABF1A8-038D-43D4-B8DD-B054C617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57300"/>
            <a:ext cx="1314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Security knowledge becomes a code-embedding pipeline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9D91FDA9-B12C-40F0-B3F5-1733832D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1104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Task 1 connects vulnerability patterns with a practical Word2Vec workflow for Python source code.</a:t>
            </a:r>
          </a:p>
        </p:txBody>
      </p:sp>
      <p:sp>
        <p:nvSpPr>
          <p:cNvPr id="8" name="metric-web vulnerability classes documented">
            <a:extLst xmlns:a="http://schemas.openxmlformats.org/drawingml/2006/main">
              <a:ext uri="{FF2B5EF4-FFF2-40B4-BE49-F238E27FC236}">
                <a16:creationId xmlns:a16="http://schemas.microsoft.com/office/drawing/2014/main" id="{E1E3BA04-FD54-4FF0-BE5B-35CF51E0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33875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72384-B452-420D-ADC2-7AA11F96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1017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1AD12-C8F9-4622-8A36-2016CD91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00675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web vulnerability classes documented</a:t>
            </a:r>
          </a:p>
        </p:txBody>
      </p:sp>
      <p:sp>
        <p:nvSpPr>
          <p:cNvPr id="11" name="metric-pipeline stages from corpus to model">
            <a:extLst xmlns:a="http://schemas.openxmlformats.org/drawingml/2006/main">
              <a:ext uri="{FF2B5EF4-FFF2-40B4-BE49-F238E27FC236}">
                <a16:creationId xmlns:a16="http://schemas.microsoft.com/office/drawing/2014/main" id="{1CA845E7-AF45-4E46-8C07-A3D1BB74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33875"/>
            <a:ext cx="419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126AD-1813-47DD-A30C-5D2A5985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1017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B8BE6-2FA8-4EAB-9FAE-18EF4EB8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00675"/>
            <a:ext cx="419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pipeline stages from corpus to model</a:t>
            </a:r>
          </a:p>
        </p:txBody>
      </p:sp>
      <p:sp>
        <p:nvSpPr>
          <p:cNvPr id="14" name="metric-Word2Vec model files delivered">
            <a:extLst xmlns:a="http://schemas.openxmlformats.org/drawingml/2006/main">
              <a:ext uri="{FF2B5EF4-FFF2-40B4-BE49-F238E27FC236}">
                <a16:creationId xmlns:a16="http://schemas.microsoft.com/office/drawing/2014/main" id="{EBD2481D-0056-498B-95BB-23114569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333875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223A3-3ECE-46DC-8D65-0BF81A3A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21017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4D1657-EDD6-4114-8EFF-B019AF16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400675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Word2Vec model files delivered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3C55A-8190-43B2-8616-2C443CF6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0"/>
            <a:ext cx="1438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/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9EFF9-CFEF-42F5-9ED8-916EB320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36295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The model is not a detector yet. It creates token vectors that can support later vulnerability classifiers.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ECBF03-CD89-4497-AACC-F22D441E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95250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101243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8EC4D7E-F277-452E-A4A1-954B0896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040DF-32C9-4DEC-99B5-6D0BCDD1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5552B-D857-47B3-B18B-19BDBBEB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0050"/>
            <a:ext cx="22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/>
        </p:spPr>
      </p:sp>
      <p:sp>
        <p:nvSpPr>
          <p:cNvPr id="4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7D396AD3-9C32-45A0-BA78-CA9BA774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57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SECURITY INSIDER LAB II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F2981EE3-60E0-4EE5-A64B-09CB3E2C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EXERCISE 1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F08D35-526A-4A8B-A687-F798ECA6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57300"/>
            <a:ext cx="1314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Most web vulnerabilities start at a trust boundary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C6121549-77E7-4951-956A-A2778B84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1104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The seven required classes were grouped by how attacker-controlled input moves through the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BAD00-72BB-47DD-BFC6-A8CE320F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F0C6-A9C3-4926-804D-C731C696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Injection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B4044-4D91-40BD-92D6-4EAF90D4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673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SQL Injection</a:t>
            </a:r>
          </a:p>
          <a:p xmlns:a="http://schemas.openxmlformats.org/drawingml/2006/main">
            <a:pPr algn="l">
              <a:defRPr sz="2325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Command Injection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0236A-437A-47BA-AA01-7FD89B7E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719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D3118-D2E4-4D3D-9A06-A6C008C6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958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Client side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47D98-2782-425A-A1B2-222B48A4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673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XSS</a:t>
            </a:r>
          </a:p>
          <a:p xmlns:a="http://schemas.openxmlformats.org/drawingml/2006/main">
            <a:pPr algn="l">
              <a:defRPr sz="2325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CSRF / XSRF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D8A9A-A9D4-4047-9EE2-995DD88A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719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76745-422A-4D80-8D20-F5CD6F75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958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Information &amp;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4ECF0-AAFF-4F16-A58E-3E886F2E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673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Path Disclosure</a:t>
            </a:r>
          </a:p>
          <a:p xmlns:a="http://schemas.openxmlformats.org/drawingml/2006/main">
            <a:pPr algn="l">
              <a:defRPr sz="2325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Open Redirect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8CD6D-722E-4200-88A9-88AADF8F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1719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/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3A6AE-B63C-4362-A9DA-2B1D9BE4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4958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E123C"/>
                </a:solidFill>
                <a:latin typeface="Cascadia Mono"/>
                <a:ea typeface="Cascadia Mono"/>
                <a:cs typeface="Cascadia Mono"/>
              </a:defRPr>
            </a:pPr>
            <a:r>
              <a:t>Critical 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C3D7AD-5B78-4C33-A920-955EBAB4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0673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Remote Code 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14D34-0174-42D8-9365-55C62984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124700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FD74AE-C619-4101-9139-73B182C8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620000"/>
            <a:ext cx="12268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Prevention pattern: validate input, encode output, avoid unsafe execution, and reveal less internal detail.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E61481-031A-4E0A-9FEE-A0ABF1EE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95250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00151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D80BBAB-9D53-4723-9E94-07F6A3A4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22713-210D-46CD-9018-4A2DD3E9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D5BFD-298F-4556-971E-F5CC3F04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0050"/>
            <a:ext cx="22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/>
        </p:spPr>
      </p:sp>
      <p:sp>
        <p:nvSpPr>
          <p:cNvPr id="4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F47F0E40-6AEF-4F2B-A803-3F3753F8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57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SECURITY INSIDER LAB II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58A1C57-5956-45E9-811E-F4D3B470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EXERCISE 2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28C060-EA4B-4D6C-AE8A-F9DCC984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57300"/>
            <a:ext cx="1314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The lab pipeline turns raw repositories into trainable token sequences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4BF83D08-7C2C-4E44-AD68-99D17B7E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1104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Each stage had a concrete output and a compatibility repair before the models could be trained.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998EC-11FA-41DB-8762-C5BA0120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78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320C8-84CC-4741-81E1-C2CB1DD0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577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12CA6-2833-4CA6-BE23-CDBF6308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197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Corpus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C8359-02E2-4820-8D72-2ABB2620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1722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8 GitHub repositories</a:t>
            </a:r>
          </a:p>
          <a:p xmlns:a="http://schemas.openxmlformats.org/drawingml/2006/main">
            <a:pPr algn="l">
              <a:defRPr sz="15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165 MB Python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5BC68-D8F4-4763-BEA0-28AD43F8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91050"/>
            <a:ext cx="78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D0084-5BF8-4E3A-BA02-75255B8D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577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9B2D3-32CE-4CD8-82C7-EECFEA45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197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Clean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B5A9F-2763-40B3-A181-B93070E8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1722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UTF-8 handling</a:t>
            </a:r>
          </a:p>
          <a:p xmlns:a="http://schemas.openxmlformats.org/drawingml/2006/main">
            <a:pPr algn="l">
              <a:defRPr sz="15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Python 3 syntax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64223-A9AB-4DC9-B99D-E9CB2B35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91050"/>
            <a:ext cx="78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E15DF-0ABB-4B80-BE05-3D9E140B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577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F2AC0-41BD-4762-963F-7468E01D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197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Tokenize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A1628-67F0-48A8-BE12-EEE3BC54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1722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34.6M tokens</a:t>
            </a:r>
          </a:p>
          <a:p xmlns:a="http://schemas.openxmlformats.org/drawingml/2006/main">
            <a:pPr algn="l">
              <a:defRPr sz="15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35 part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05BF8C-8BC2-44BE-BA1E-99494106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91050"/>
            <a:ext cx="78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5AD1B-684B-4CAA-83BA-61C9AD51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8577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0B5A8-4ECE-43A3-9748-B4370EF2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6197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Merge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9D273-03D5-4315-88F2-8C3E61A4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1722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124 MB training file</a:t>
            </a:r>
          </a:p>
          <a:p xmlns:a="http://schemas.openxmlformats.org/drawingml/2006/main">
            <a:pPr algn="l">
              <a:defRPr sz="15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withString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94F58-B9A2-4C46-97E4-AFF79737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591050"/>
            <a:ext cx="78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36B9D-3D1F-4EC8-921F-CB7CF4B1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8577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0D78E3-50CA-4921-A495-94FD1B69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6197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Train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C88E94-6206-47A4-B833-0B0E5F3E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1722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16 new configs</a:t>
            </a:r>
          </a:p>
          <a:p xmlns:a="http://schemas.openxmlformats.org/drawingml/2006/main">
            <a:pPr algn="l">
              <a:defRPr sz="157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required model included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42C32E-EE3A-44C9-AEBD-6C81ECF0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2677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6C8D2"/>
                </a:solidFill>
                <a:latin typeface="Cascadia Mono"/>
                <a:ea typeface="Cascadia Mono"/>
                <a:cs typeface="Cascadia Mono"/>
              </a:defRPr>
            </a:pPr>
            <a:r>
              <a:t>&gt; output: word2vec_withString10-200-300.model</a:t>
            </a:r>
          </a:p>
        </p:txBody>
      </p:sp>
      <p:sp>
        <p:nvSpPr>
          <p:cNvPr id="2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90C0D42-8795-4F6C-901C-35F348A5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95250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25476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30D0D23-B48B-4DD6-BB46-2D6F0DB7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46BD1-7F26-4026-8F3E-EE42254B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7E205-B5A8-4ABA-92C3-A6F7095A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0050"/>
            <a:ext cx="22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/>
        </p:spPr>
      </p:sp>
      <p:sp>
        <p:nvSpPr>
          <p:cNvPr id="4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CED2DA12-4845-4483-8CEB-966EDBDC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57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SECURITY INSIDER LAB II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4CD8AE55-7518-4528-8B48-FC306CDA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CORPUS CREATION AND CLEANING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E7BC85-A3AB-4C4D-B175-74C4C408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57300"/>
            <a:ext cx="1314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The dataset came from major Python projects, then had to be normalized</a:t>
            </a:r>
          </a:p>
        </p:txBody>
      </p:sp>
      <p:sp>
        <p:nvSpPr>
          <p:cNvPr id="7" name="metric-raw and cleaned Python corpus">
            <a:extLst xmlns:a="http://schemas.openxmlformats.org/drawingml/2006/main">
              <a:ext uri="{FF2B5EF4-FFF2-40B4-BE49-F238E27FC236}">
                <a16:creationId xmlns:a16="http://schemas.microsoft.com/office/drawing/2014/main" id="{FF0142E5-F18F-462F-AF64-3F1BD01B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481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165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1C6A7-B457-4450-85E0-6E608ABC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244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39114-BB0E-4F62-9038-4649ED57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149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raw and cleaned Python corpus</a:t>
            </a:r>
          </a:p>
        </p:txBody>
      </p:sp>
      <p:sp>
        <p:nvSpPr>
          <p:cNvPr id="10" name="metric-repositories mined with pydriller">
            <a:extLst xmlns:a="http://schemas.openxmlformats.org/drawingml/2006/main">
              <a:ext uri="{FF2B5EF4-FFF2-40B4-BE49-F238E27FC236}">
                <a16:creationId xmlns:a16="http://schemas.microsoft.com/office/drawing/2014/main" id="{AC5DD581-27A9-44FB-AF05-CF5D0B4E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0960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B2F94-8FCC-42DC-A1E6-635F98BF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9723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FB8B2-BB81-4E3D-9C94-95114E7C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1628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repositories mined with pydriller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91C02-0895-4591-8525-0A5406C2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962900"/>
            <a:ext cx="638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Django / NumPy / TensorFlow / Scikit-learn / Flask / SciPy / sqlmap / Docker Compose</a:t>
            </a:r>
          </a:p>
        </p:txBody>
      </p:sp>
      <p:sp>
        <p:nvSpPr>
          <p:cNvPr id="14" name="repos-proof-frame">
            <a:extLst xmlns:a="http://schemas.openxmlformats.org/drawingml/2006/main">
              <a:ext uri="{FF2B5EF4-FFF2-40B4-BE49-F238E27FC236}">
                <a16:creationId xmlns:a16="http://schemas.microsoft.com/office/drawing/2014/main" id="{57B07472-A055-432A-A088-71F7B2EF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c62768ab449f1"/>
          <a:stretch xmlns:a="http://schemas.openxmlformats.org/drawingml/2006/main"/>
        </p:blipFill>
        <p:spPr>
          <a:xfrm xmlns:a="http://schemas.openxmlformats.org/drawingml/2006/main">
            <a:off x="9105900" y="4433835"/>
            <a:ext cx="6934200" cy="189558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16AD2-9A82-4385-98B2-0CEF4733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78105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Compatibility fixes: pydriller API update, UTF-8 file handling, and safer per-repository error handling.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0092AB-12BB-4C23-9183-0AAB6B12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95250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176030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29BE3CF-A6B3-4628-8E63-5CB3AAC1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FAEA2-62C0-422D-8745-2FF253E5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6DAC7-A336-47C1-B96B-A14B38DF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0050"/>
            <a:ext cx="22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/>
        </p:spPr>
      </p:sp>
      <p:sp>
        <p:nvSpPr>
          <p:cNvPr id="4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63F84872-03F5-44FE-A48D-1871C4D9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57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SECURITY INSIDER LAB II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FDE104D9-6B58-42A5-8A09-0563F597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TOKENIZER REWRITE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8C9182-ECC4-4288-9FA1-55932BE0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57300"/>
            <a:ext cx="1314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The tokenizer stopped crashing once broken snippets were isolated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E8A979B1-7E39-455A-915F-F368A86C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1104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The raw corpus is many files joined together, not one valid Python program, so the tokenizer had to fail softly.</a:t>
            </a:r>
          </a:p>
        </p:txBody>
      </p:sp>
      <p:sp>
        <p:nvSpPr>
          <p:cNvPr id="8" name="metric-tokens processed">
            <a:extLst xmlns:a="http://schemas.openxmlformats.org/drawingml/2006/main">
              <a:ext uri="{FF2B5EF4-FFF2-40B4-BE49-F238E27FC236}">
                <a16:creationId xmlns:a16="http://schemas.microsoft.com/office/drawing/2014/main" id="{0F1B429E-6D73-42F7-8CAD-10A7D741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361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34.6M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4DD0E-9F5E-4863-B82D-640DE02A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006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F9ABF-D89A-4E44-AA3E-81C2B2C4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91150"/>
            <a:ext cx="361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tokens processed</a:t>
            </a:r>
          </a:p>
        </p:txBody>
      </p:sp>
      <p:sp>
        <p:nvSpPr>
          <p:cNvPr id="11" name="metric-snippets attempted">
            <a:extLst xmlns:a="http://schemas.openxmlformats.org/drawingml/2006/main">
              <a:ext uri="{FF2B5EF4-FFF2-40B4-BE49-F238E27FC236}">
                <a16:creationId xmlns:a16="http://schemas.microsoft.com/office/drawing/2014/main" id="{634D5462-518D-4BAE-B3D0-99F30BEC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678k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91E96-9120-4AA3-BAF0-8B2B7168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006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1747A-1E97-47B3-B5B4-5A415619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911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snippets attempted</a:t>
            </a:r>
          </a:p>
        </p:txBody>
      </p:sp>
      <p:sp>
        <p:nvSpPr>
          <p:cNvPr id="14" name="metric-bad snippets skipped">
            <a:extLst xmlns:a="http://schemas.openxmlformats.org/drawingml/2006/main">
              <a:ext uri="{FF2B5EF4-FFF2-40B4-BE49-F238E27FC236}">
                <a16:creationId xmlns:a16="http://schemas.microsoft.com/office/drawing/2014/main" id="{83AC8073-47AA-42DD-8EB8-E22C0F7A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2435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85.9k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B2457-82A2-4162-BACC-235DE1FB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006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73C8C-133D-4247-9232-E96CD889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911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bad snippets skipped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8639C-A72D-4898-A3B3-F6642171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95325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Old behavior: one indentation error could stop the whole run.</a:t>
            </a:r>
          </a:p>
          <a:p xmlns:a="http://schemas.openxmlformats.org/drawingml/2006/main">
            <a:pPr algn="l">
              <a:defRPr sz="2325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New behavior: tokenize each snippet, catch errors, keep the usable corpus.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2A94E-22C0-416F-A3D5-C9BE9459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53440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6C8D2"/>
                </a:solidFill>
                <a:latin typeface="Cascadia Mono"/>
                <a:ea typeface="Cascadia Mono"/>
                <a:cs typeface="Cascadia Mono"/>
              </a:defRPr>
            </a:pPr>
            <a:r>
              <a:t>&gt; Python tokenize.tokenize(f.readline)  +  per-snippet try/except</a:t>
            </a:r>
          </a:p>
        </p:txBody>
      </p:sp>
      <p:sp>
        <p:nvSpPr>
          <p:cNvPr id="19" name="token-progress-proof-frame">
            <a:extLst xmlns:a="http://schemas.openxmlformats.org/drawingml/2006/main">
              <a:ext uri="{FF2B5EF4-FFF2-40B4-BE49-F238E27FC236}">
                <a16:creationId xmlns:a16="http://schemas.microsoft.com/office/drawing/2014/main" id="{823705FE-53D9-4641-B1FB-3D737DEA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429000"/>
            <a:ext cx="3524250" cy="48577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35c65bfb94c0d"/>
          <a:stretch xmlns:a="http://schemas.openxmlformats.org/drawingml/2006/main"/>
        </p:blipFill>
        <p:spPr>
          <a:xfrm xmlns:a="http://schemas.openxmlformats.org/drawingml/2006/main">
            <a:off x="13220700" y="4630734"/>
            <a:ext cx="3295650" cy="2454282"/>
          </a:xfrm>
          <a:prstGeom xmlns:a="http://schemas.openxmlformats.org/drawingml/2006/main" prst="rect">
            <a:avLst/>
          </a:prstGeom>
        </p:spPr>
      </p:pic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40F9B0-0FA2-45AC-85F1-82FA78EF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95250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161839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256B9F0-30FA-4695-A6FE-39902E29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F664F-FEC0-4FE8-9F5F-AA7B2914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A5853-DAB1-48CB-89F2-CA24331D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0050"/>
            <a:ext cx="22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/>
        </p:spPr>
      </p:sp>
      <p:sp>
        <p:nvSpPr>
          <p:cNvPr id="4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D26354A1-B093-4839-A9A9-B812B7F3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57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SECURITY INSIDER LAB II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1769FD70-AAE1-4600-A092-C5C02DA7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MODEL TRAINING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B051A1-D46A-4267-B1B4-C403B83D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57300"/>
            <a:ext cx="1314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A targeted training matrix replaced an unrealistic 378-combination run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A8ACDE60-F093-4DF7-8012-2909595E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1104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The selected models varied min_count, epochs, and vector_size while preserving the required configuration.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87C79-A558-436A-A5AF-DC55162A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434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34C37-92EC-468B-B6BF-156D0F5B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863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min_count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D88A0-8D84-4B18-A8E9-18BFBAC8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10 / 30 / 50 / 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5F7BD-1D2A-4EDF-BBEF-EFB8F0FA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6265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controls vocabulary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21070-D25E-46F0-82B4-19C08AC6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434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C1EF4-85D1-4B3F-AAC9-C4A9DBCF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epochs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EBBAE-1344-433A-BE4C-3190897E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768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50 / 100 / 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5BE79-E292-4C84-A081-126BB446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6265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controls training passes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AE340-D6A4-47D2-91B2-B704ED4A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3434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6E18C-763C-420E-8213-B37FCE25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863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vector_size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E670E-5F61-41CE-BADC-9D558DBC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2768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5 to 300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16864-4D19-4B9E-8F0F-7AF0872D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96265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controls embedding detail</a:t>
            </a:r>
          </a:p>
        </p:txBody>
      </p:sp>
      <p:sp>
        <p:nvSpPr>
          <p:cNvPr id="20" name="required-model-strip">
            <a:extLst xmlns:a="http://schemas.openxmlformats.org/drawingml/2006/main">
              <a:ext uri="{FF2B5EF4-FFF2-40B4-BE49-F238E27FC236}">
                <a16:creationId xmlns:a16="http://schemas.microsoft.com/office/drawing/2014/main" id="{38CB6A2B-48F8-4C3C-AE3A-D622269D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581900"/>
            <a:ext cx="11715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</p:sp>
      <p:sp>
        <p:nvSpPr>
          <p:cNvPr id="21" name="required-model">
            <a:extLst xmlns:a="http://schemas.openxmlformats.org/drawingml/2006/main">
              <a:ext uri="{FF2B5EF4-FFF2-40B4-BE49-F238E27FC236}">
                <a16:creationId xmlns:a16="http://schemas.microsoft.com/office/drawing/2014/main" id="{D86666A6-AB63-4D2D-9E2F-A551BD81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78105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6C8D2"/>
                </a:solidFill>
                <a:latin typeface="Cascadia Mono"/>
                <a:ea typeface="Cascadia Mono"/>
                <a:cs typeface="Cascadia Mono"/>
              </a:defRPr>
            </a:pPr>
            <a:r>
              <a:t>&gt; required: min_count=10  epochs=200  vector_size=300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25CED-C6F3-4658-9948-C5B31BB9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8667750"/>
            <a:ext cx="1143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Training ran on a Hetzner Ubuntu VPS; a 4 GB swap file was added after an out-of-memory kill.</a:t>
            </a:r>
          </a:p>
        </p:txBody>
      </p:sp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62D411F-9882-4095-8106-C2B7A559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95250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14830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93F7E10-CA11-45CA-95B1-4257AF69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2E822-2565-4939-9504-5DB26BB3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A83BB-CADC-40E4-B7EA-E94D034E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0050"/>
            <a:ext cx="22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/>
        </p:spPr>
      </p:sp>
      <p:sp>
        <p:nvSpPr>
          <p:cNvPr id="4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1E25FBBA-D4D2-437A-A223-4B6794DB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57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SECURITY INSIDER LAB II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1C2DDE3-66D7-4D3B-9138-25BE4511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RESULTS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5E5F1B-DEEB-4AC0-A09E-2288AF9C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57300"/>
            <a:ext cx="1314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The submission package contains the required model and more than 15 total models</a:t>
            </a:r>
          </a:p>
        </p:txBody>
      </p:sp>
      <p:sp>
        <p:nvSpPr>
          <p:cNvPr id="7" name="metric-model files present">
            <a:extLst xmlns:a="http://schemas.openxmlformats.org/drawingml/2006/main">
              <a:ext uri="{FF2B5EF4-FFF2-40B4-BE49-F238E27FC236}">
                <a16:creationId xmlns:a16="http://schemas.microsoft.com/office/drawing/2014/main" id="{69764E36-B3BF-4CF4-B3C9-7F35042E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57600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3B699-C363-4210-84FB-55F5FDDA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1A2FE-E7C6-4D60-A4BA-0E482A82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244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model files present</a:t>
            </a:r>
          </a:p>
        </p:txBody>
      </p:sp>
      <p:sp>
        <p:nvSpPr>
          <p:cNvPr id="10" name="metric-final model archive">
            <a:extLst xmlns:a="http://schemas.openxmlformats.org/drawingml/2006/main">
              <a:ext uri="{FF2B5EF4-FFF2-40B4-BE49-F238E27FC236}">
                <a16:creationId xmlns:a16="http://schemas.microsoft.com/office/drawing/2014/main" id="{F6A97E30-70A6-445B-8B52-7198B8E8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29300"/>
            <a:ext cx="400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597 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BB18E-D0DA-4FF5-9E26-6DFD48FD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7056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903A2-DDDF-4030-A81A-06D561AE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8961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final model archive</a:t>
            </a:r>
          </a:p>
        </p:txBody>
      </p:sp>
      <p:sp>
        <p:nvSpPr>
          <p:cNvPr id="13" name="metric-real size of required model with .npy vectors">
            <a:extLst xmlns:a="http://schemas.openxmlformats.org/drawingml/2006/main">
              <a:ext uri="{FF2B5EF4-FFF2-40B4-BE49-F238E27FC236}">
                <a16:creationId xmlns:a16="http://schemas.microsoft.com/office/drawing/2014/main" id="{5DDF2FE6-89CE-4E7E-BA17-98FFC90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886700"/>
            <a:ext cx="542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~152 MB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35603-A9E1-444E-BD38-4266288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7630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644EB-D83B-4E3D-BB15-657F2524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95350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real size of required model with .npy vectors</a:t>
            </a:r>
          </a:p>
        </p:txBody>
      </p:sp>
      <p:sp>
        <p:nvSpPr>
          <p:cNvPr id="16" name="models-proof-frame">
            <a:extLst xmlns:a="http://schemas.openxmlformats.org/drawingml/2006/main">
              <a:ext uri="{FF2B5EF4-FFF2-40B4-BE49-F238E27FC236}">
                <a16:creationId xmlns:a16="http://schemas.microsoft.com/office/drawing/2014/main" id="{A53EA7C9-D07F-4F97-9ECB-9089AC72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8001000" cy="5314950"/>
          </a:xfrm>
          <a:prstGeom xmlns:a="http://schemas.openxmlformats.org/drawingml/2006/main" prst="roundRect">
            <a:avLst>
              <a:gd name="adj" fmla="val 14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fdbfeb89e4289"/>
          <a:stretch xmlns:a="http://schemas.openxmlformats.org/drawingml/2006/main"/>
        </p:blipFill>
        <p:spPr>
          <a:xfrm xmlns:a="http://schemas.openxmlformats.org/drawingml/2006/main">
            <a:off x="8572500" y="3910105"/>
            <a:ext cx="7734300" cy="355264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A78D3-FA55-478E-89FD-DB37AB82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868680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The small .model file is only metadata; the trained vector arrays live in companion .npy files.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05C226-0D2F-42CB-B4AA-51F5D164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95250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53000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93DB08A-219D-433E-AF09-C1B4FD92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32D84-E9D5-4DE4-849D-D19DC991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0D010-E28C-4F3B-AF45-F9BCE3C6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0050"/>
            <a:ext cx="22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/>
        </p:spPr>
      </p:sp>
      <p:sp>
        <p:nvSpPr>
          <p:cNvPr id="4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D41F736E-2536-4B33-BCFA-C46F267B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57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SECURITY INSIDER LAB II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B6AE0C6-9C83-4662-A03B-9DB0D904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VERIFICATION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338C2B-A40C-4CDB-8D3A-D6A70EDD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57300"/>
            <a:ext cx="1314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The required model learned meaningful Python control-flow relationships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E394FCAA-A6F8-445A-8276-6D2DFAEA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1104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A simple similarity probe checked whether the embedding space made intuitive sense.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7547D-70FF-40DC-AA8F-FDE6D688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552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most_similar("if")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11C5A-4CD9-4D68-A3CF-FB2DDB0D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244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elif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447EC-5736-4CCE-939E-AA032FB6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626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0.7564 similarity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2F889-9A18-4B3A-8295-A6D0243B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31520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BA9D0-A752-4F16-B48C-FAD70119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7162800"/>
            <a:ext cx="607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Other nearby tokens included assert, while, raise, else, and break.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4C5FB-E250-424F-850B-ED7B6D50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00100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22EBC-667B-4E19-A5DF-D7F1787E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7848600"/>
            <a:ext cx="6457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This validates the embedding pipeline, not a finished vulnerability detector.</a:t>
            </a:r>
          </a:p>
        </p:txBody>
      </p:sp>
      <p:sp>
        <p:nvSpPr>
          <p:cNvPr id="15" name="verification-terminal">
            <a:extLst xmlns:a="http://schemas.openxmlformats.org/drawingml/2006/main">
              <a:ext uri="{FF2B5EF4-FFF2-40B4-BE49-F238E27FC236}">
                <a16:creationId xmlns:a16="http://schemas.microsoft.com/office/drawing/2014/main" id="{F93EACB6-02A9-4227-A3BB-69C3082D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86150"/>
            <a:ext cx="6858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65C73-7AA3-4F22-A77C-81C78824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6715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6C8D2"/>
                </a:solidFill>
                <a:latin typeface="Cascadia Mono"/>
                <a:ea typeface="Cascadia Mono"/>
                <a:cs typeface="Cascadia Mono"/>
              </a:defRPr>
            </a:pPr>
            <a:r>
              <a:t>$ verify word2vec_withString10-200-300.model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09408-BD3C-421C-8F2C-7946280B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148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C8D2"/>
                </a:solidFill>
                <a:latin typeface="Cascadia Mono"/>
                <a:ea typeface="Cascadia Mono"/>
                <a:cs typeface="Cascadia Mono"/>
              </a:defRPr>
            </a:pPr>
            <a:r>
              <a:t>nearest tokens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52231-EAA3-493D-A93B-7B8DDD98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673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C8D2"/>
                </a:solidFill>
                <a:latin typeface="Cascadia Mono"/>
                <a:ea typeface="Cascadia Mono"/>
                <a:cs typeface="Cascadia Mono"/>
              </a:defRPr>
            </a:pPr>
            <a:r>
              <a:t>elif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FF237-1095-4E25-B05C-7567F97B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5067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1" i="0">
                <a:solidFill>
                  <a:srgbClr val="16C8D2"/>
                </a:solidFill>
                <a:latin typeface="Cascadia Mono"/>
                <a:ea typeface="Cascadia Mono"/>
                <a:cs typeface="Cascadia Mono"/>
              </a:defRPr>
            </a:pPr>
            <a:r>
              <a:t>0.7564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FF84A-9997-4EC0-9F08-0A0E09E6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6E3EA"/>
                </a:solidFill>
                <a:latin typeface="Cascadia Mono"/>
                <a:ea typeface="Cascadia Mono"/>
                <a:cs typeface="Cascadia Mono"/>
              </a:defRPr>
            </a:pPr>
            <a:r>
              <a:t>assert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E5BB9-581F-4163-96DE-69BFB416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54292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D6E3EA"/>
                </a:solidFill>
                <a:latin typeface="Cascadia Mono"/>
                <a:ea typeface="Cascadia Mono"/>
                <a:cs typeface="Cascadia Mono"/>
              </a:defRPr>
            </a:pPr>
            <a:r>
              <a:t>0.5855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624D9-22DF-40C0-AF90-11EB10A7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7912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6E3EA"/>
                </a:solidFill>
                <a:latin typeface="Cascadia Mono"/>
                <a:ea typeface="Cascadia Mono"/>
                <a:cs typeface="Cascadia Mono"/>
              </a:defRPr>
            </a:pPr>
            <a:r>
              <a:t>while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700457-D70F-4C8E-B8AF-E68AA33F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57912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D6E3EA"/>
                </a:solidFill>
                <a:latin typeface="Cascadia Mono"/>
                <a:ea typeface="Cascadia Mono"/>
                <a:cs typeface="Cascadia Mono"/>
              </a:defRPr>
            </a:pPr>
            <a:r>
              <a:t>0.5106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3BDFE-E170-459C-BDB2-B1D0B262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53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6E3EA"/>
                </a:solidFill>
                <a:latin typeface="Cascadia Mono"/>
                <a:ea typeface="Cascadia Mono"/>
                <a:cs typeface="Cascadia Mono"/>
              </a:defRPr>
            </a:pPr>
            <a:r>
              <a:t>raise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E9740-8A99-4E93-B3FD-36A60B92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6153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D6E3EA"/>
                </a:solidFill>
                <a:latin typeface="Cascadia Mono"/>
                <a:ea typeface="Cascadia Mono"/>
                <a:cs typeface="Cascadia Mono"/>
              </a:defRPr>
            </a:pPr>
            <a:r>
              <a:t>0.3777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AB8096-ADCB-440D-9EE6-8E7D03C8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151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6E3EA"/>
                </a:solidFill>
                <a:latin typeface="Cascadia Mono"/>
                <a:ea typeface="Cascadia Mono"/>
                <a:cs typeface="Cascadia Mono"/>
              </a:defRPr>
            </a:pPr>
            <a:r>
              <a:t>else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AA9227-DCB4-4B0E-A426-D9C2046D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65151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D6E3EA"/>
                </a:solidFill>
                <a:latin typeface="Cascadia Mono"/>
                <a:ea typeface="Cascadia Mono"/>
                <a:cs typeface="Cascadia Mono"/>
              </a:defRPr>
            </a:pPr>
            <a:r>
              <a:t>0.3692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83F5AE-0D40-4E20-960A-2AF61900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89610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4E"/>
          </a:solidFill>
          <a:ln xmlns:a="http://schemas.openxmlformats.org/drawingml/2006/main" w="0"/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24E88A-C695-4572-B023-4EB0B5EA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086600"/>
            <a:ext cx="571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6E3EA"/>
                </a:solidFill>
                <a:latin typeface="Cascadia Mono"/>
                <a:ea typeface="Cascadia Mono"/>
                <a:cs typeface="Cascadia Mono"/>
              </a:defRPr>
            </a:pPr>
            <a:r>
              <a:t>Control-flow tokens cluster together.</a:t>
            </a:r>
          </a:p>
        </p:txBody>
      </p:sp>
      <p:sp>
        <p:nvSpPr>
          <p:cNvPr id="3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9CD3FF-578D-45E2-82CA-FD608A9C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95250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08427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FE70EE5-3BDB-4A82-AE4C-41848A37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363A0-03B3-43AE-BC4B-7799563A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E0085-E311-4154-8C18-4A28CB25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0050"/>
            <a:ext cx="22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/>
        </p:spPr>
      </p:sp>
      <p:sp>
        <p:nvSpPr>
          <p:cNvPr id="4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3E08E265-4BDA-4357-90B6-CC997B92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57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SECURITY INSIDER LAB II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711077B2-482E-47A1-8280-84F38CF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LESSONS LEARNED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0C25AE-ACD9-46D1-BB33-319BC3D7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57300"/>
            <a:ext cx="1314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The hardest work was modernizing the old pipeline, not calling Word2Vec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833D5209-FF19-40CF-AC54-D900A686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1104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The fixes are also the story: every failure mode became a more robust data-preparation step.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0E8DE-CEEA-4908-A00D-2DB3DE25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API drift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E1442-1BEC-42CB-A868-5BE326F6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7670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6731D-B90D-4C5D-AEC1-2811A476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pydriller and gensim calls 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DAD13-A3FF-4325-B804-38D3C991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Encoding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4F085-38B5-4B9B-9EC7-3765EF30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006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44F7D-CF30-4A94-A228-E848E094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72050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Windows defaults could not read every corpus character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23861-A19F-4B33-8B2D-6559B1C5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531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Tokenizer crashes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CBD4E-29E3-448B-B475-C6DCF5D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32460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CBA247-3BE8-4EF2-8A25-26721D0E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96000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bad indentation had to be skipped locally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FD43B3-ADE8-4B49-9A77-46F05872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771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Hardware 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D92D3-E2D1-46B4-8473-32F7A429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74485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D0E8F-42A3-43AC-8F83-9BE13032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219950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VPS memory needed swap before training could finish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341CC-F993-4A9C-AE2E-2CF174DD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572500"/>
            <a:ext cx="1200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EA1F4-51E3-4AC3-8790-6AD1BC7B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915400"/>
            <a:ext cx="1200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Security part: know the dangerous patterns. ML part: represent code tokens so a future detector can learn those patterns.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103E04-B384-4BC7-A13C-819A3069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95250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944185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4B95A1E-D33E-458B-88C6-11FE281E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93297-9408-4F74-97A7-EE338BF1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B7C9A-FCD4-4FAA-A92A-FB08FB48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0050"/>
            <a:ext cx="22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/>
        </p:spPr>
      </p:sp>
      <p:sp>
        <p:nvSpPr>
          <p:cNvPr id="4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10C38DAD-4DB7-4FCE-8927-85D6F29B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57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SECURITY INSIDER LAB II</a:t>
            </a:r>
          </a:p>
        </p:txBody>
      </p:sp>
      <p:sp>
        <p:nvSpPr>
          <p:cNvPr id="5" name="background">
            <a:extLst xmlns:a="http://schemas.openxmlformats.org/drawingml/2006/main">
              <a:ext uri="{FF2B5EF4-FFF2-40B4-BE49-F238E27FC236}">
                <a16:creationId xmlns:a16="http://schemas.microsoft.com/office/drawing/2014/main" id="{F23AB326-D41A-44F7-92B9-6723CFDE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D7B71-6327-48D3-A3DD-CA062715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18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3CF23-E191-441E-B79B-02AFF583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LAB 5 PROJECT IDEA</a:t>
            </a:r>
          </a:p>
        </p:txBody>
      </p:sp>
      <p:sp>
        <p:nvSpPr>
          <p:cNvPr id="8" name="hermsec-wordmark">
            <a:extLst xmlns:a="http://schemas.openxmlformats.org/drawingml/2006/main">
              <a:ext uri="{FF2B5EF4-FFF2-40B4-BE49-F238E27FC236}">
                <a16:creationId xmlns:a16="http://schemas.microsoft.com/office/drawing/2014/main" id="{D9C66EA4-54BB-482E-9798-DCE23E7D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0" b="1" i="0">
                <a:solidFill>
                  <a:srgbClr val="0B1220"/>
                </a:solidFill>
                <a:latin typeface="Cascadia Mono"/>
                <a:ea typeface="Cascadia Mono"/>
                <a:cs typeface="Cascadia Mono"/>
              </a:defRPr>
            </a:pPr>
            <a:r>
              <a:t>HERMSEC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00703-C925-4E85-85D4-4099C44B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657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6C8CE-8DE2-4880-9269-E765B83A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A CVE-aware AI security agent for repositories</a:t>
            </a:r>
          </a:p>
        </p:txBody>
      </p:sp>
      <p:sp>
        <p:nvSpPr>
          <p:cNvPr id="11" name="white-terminal">
            <a:extLst xmlns:a="http://schemas.openxmlformats.org/drawingml/2006/main">
              <a:ext uri="{FF2B5EF4-FFF2-40B4-BE49-F238E27FC236}">
                <a16:creationId xmlns:a16="http://schemas.microsoft.com/office/drawing/2014/main" id="{8E74F18E-C52A-432A-A722-F2EB9798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38350"/>
            <a:ext cx="561975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terminal-header">
            <a:extLst xmlns:a="http://schemas.openxmlformats.org/drawingml/2006/main">
              <a:ext uri="{FF2B5EF4-FFF2-40B4-BE49-F238E27FC236}">
                <a16:creationId xmlns:a16="http://schemas.microsoft.com/office/drawing/2014/main" id="{219475BD-0936-401C-9A41-0DFFC7C7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381250"/>
            <a:ext cx="49339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123B9-B272-43B2-AC7F-82BD8501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289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6C8D2"/>
                </a:solidFill>
                <a:latin typeface="Cascadia Mono"/>
                <a:ea typeface="Cascadia Mono"/>
                <a:cs typeface="Cascadia Mono"/>
              </a:defRPr>
            </a:pPr>
            <a:r>
              <a:t>&gt; scan https://github.com/org/repo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32A73-1601-4735-A6A9-61061A3D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5814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155"/>
                </a:solidFill>
                <a:latin typeface="Cascadia Mono"/>
                <a:ea typeface="Cascadia Mono"/>
                <a:cs typeface="Cascadia Mono"/>
              </a:defRPr>
            </a:pPr>
            <a:r>
              <a:t>[1/5] Reading repository 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70568-DD96-4557-AD88-8958142B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386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155"/>
                </a:solidFill>
                <a:latin typeface="Cascadia Mono"/>
                <a:ea typeface="Cascadia Mono"/>
                <a:cs typeface="Cascadia Mono"/>
              </a:defRPr>
            </a:pPr>
            <a:r>
              <a:t>[2/5] Running Bandit and Semgrep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FBABA-11C3-48B7-BAB0-64E1CFED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4958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155"/>
                </a:solidFill>
                <a:latin typeface="Cascadia Mono"/>
                <a:ea typeface="Cascadia Mono"/>
                <a:cs typeface="Cascadia Mono"/>
              </a:defRPr>
            </a:pPr>
            <a:r>
              <a:t>[3/5] Checking dependency CVEs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3A2F2-0A72-4D14-9E33-4277A3F8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9530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155"/>
                </a:solidFill>
                <a:latin typeface="Cascadia Mono"/>
                <a:ea typeface="Cascadia Mono"/>
                <a:cs typeface="Cascadia Mono"/>
              </a:defRPr>
            </a:pPr>
            <a:r>
              <a:t>[4/5] Asking selected model to 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220B8-A4D4-4F5E-A8AA-447ED7BC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4102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[5/5] Writing Markdown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0DF28-A89B-44A9-8B2F-7DD6FA3F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436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ABA8E-1700-4837-8781-E3B6FBF9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91250"/>
            <a:ext cx="7410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Bring-your-own-model: OpenRouter, Ollama, LM Studio, or another compatible API.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FB8AE-67D4-4ADF-B892-C87EAADB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04850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9289E-CE0F-421B-B7F7-8442F330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96100"/>
            <a:ext cx="798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Scanners and CVE databases produce evidence; the model explains and prioritizes 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6801F-3370-4DBC-9410-DBAC62B3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7533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/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CF449-A8AD-478B-99AC-14EEE909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00950"/>
            <a:ext cx="769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The tool stays defensive: scan, explain, suggest fixes, and avoid inventing CVEs.</a:t>
            </a:r>
          </a:p>
        </p:txBody>
      </p:sp>
      <p:sp>
        <p:nvSpPr>
          <p:cNvPr id="2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1C9C3C-CBEA-4EF7-B6F2-A7307B08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95250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9041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527EE66-0271-4B23-9309-0DB99F47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C8D6B-EA5B-4E89-A209-7E5F34C5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8B68E-2756-477F-A9F2-2938F224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0050"/>
            <a:ext cx="22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/>
        </p:spPr>
      </p:sp>
      <p:sp>
        <p:nvSpPr>
          <p:cNvPr id="4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66B6B543-B18B-4D6E-8AC2-4FD80817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57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SECURITY INSIDER LAB II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59FFA95E-F282-4725-A7A6-D37A2999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HERMESSEC WORKFLOW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D0E638-5717-4D89-86CF-CE4C0671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57300"/>
            <a:ext cx="1314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Repository evidence flows through scanners before the model explains it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6AAA0F6C-9F03-4527-B736-793350D6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1104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t>The AI layer is useful because it translates confirmed scanner output into developer-friendly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831E3-EC4F-4015-A27F-682F806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202BD-AEAE-4189-B4DB-3075D01B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GitHub URL</a:t>
            </a:r>
          </a:p>
          <a:p xmlns:a="http://schemas.openxmlformats.org/drawingml/2006/main">
            <a:pPr algn="ctr">
              <a:defRPr sz="21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or local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58295-1C5E-4FE0-BBC9-E7FD6ABD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3870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11" name="flow-dot-0">
            <a:extLst xmlns:a="http://schemas.openxmlformats.org/drawingml/2006/main">
              <a:ext uri="{FF2B5EF4-FFF2-40B4-BE49-F238E27FC236}">
                <a16:creationId xmlns:a16="http://schemas.microsoft.com/office/drawing/2014/main" id="{306DD5DF-769F-47A8-AADF-6B9C09A9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762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6B72C-0517-4293-9A81-29E64CF1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386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1C2EC-DCFD-488B-96AC-0BB99004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6245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Bandit</a:t>
            </a:r>
          </a:p>
          <a:p xmlns:a="http://schemas.openxmlformats.org/drawingml/2006/main">
            <a:pPr algn="ctr">
              <a:defRPr sz="21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Semgrep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F8F41-310D-487C-9653-03B6C641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3870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15" name="flow-dot-1">
            <a:extLst xmlns:a="http://schemas.openxmlformats.org/drawingml/2006/main">
              <a:ext uri="{FF2B5EF4-FFF2-40B4-BE49-F238E27FC236}">
                <a16:creationId xmlns:a16="http://schemas.microsoft.com/office/drawing/2014/main" id="{A3D272CF-128A-4272-B575-4EF92061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03359-9DAD-443F-A18E-991202BE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920ED-A89C-4EE8-8D43-95A2B783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624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pip-audit</a:t>
            </a:r>
          </a:p>
          <a:p xmlns:a="http://schemas.openxmlformats.org/drawingml/2006/main">
            <a:pPr algn="ctr">
              <a:defRPr sz="21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OSV-Scanner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9A4AA-1B26-40BC-BC74-36A799A8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83870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19" name="flow-dot-2">
            <a:extLst xmlns:a="http://schemas.openxmlformats.org/drawingml/2006/main">
              <a:ext uri="{FF2B5EF4-FFF2-40B4-BE49-F238E27FC236}">
                <a16:creationId xmlns:a16="http://schemas.microsoft.com/office/drawing/2014/main" id="{87C7D49C-2859-4E44-A987-B08C5BBE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762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7FEC0D-F20E-437A-A71E-AB777334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386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67EBD-9F2B-4E60-8F64-852E61AD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36245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BYOM AI</a:t>
            </a:r>
          </a:p>
          <a:p xmlns:a="http://schemas.openxmlformats.org/drawingml/2006/main">
            <a:pPr algn="ctr">
              <a:defRPr sz="21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explanation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3C89D1-486D-463B-9C8E-A99DB870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483870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/>
        </p:spPr>
      </p:sp>
      <p:sp>
        <p:nvSpPr>
          <p:cNvPr id="23" name="flow-dot-3">
            <a:extLst xmlns:a="http://schemas.openxmlformats.org/drawingml/2006/main">
              <a:ext uri="{FF2B5EF4-FFF2-40B4-BE49-F238E27FC236}">
                <a16:creationId xmlns:a16="http://schemas.microsoft.com/office/drawing/2014/main" id="{9A26ADE7-DFFC-4F2C-8D1C-A54E3506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650" y="4762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A40028-FE41-4E09-87EC-AE9982C5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0386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2"/>
          </a:solidFill>
          <a:ln xmlns:a="http://schemas.openxmlformats.org/drawingml/2006/main" w="0"/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0B208D-F90C-4B4E-8993-D787DD97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362450"/>
            <a:ext cx="2571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Security report</a:t>
            </a:r>
          </a:p>
          <a:p xmlns:a="http://schemas.openxmlformats.org/drawingml/2006/main">
            <a:pPr algn="ctr">
              <a:defRPr sz="21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severity / CVE / fix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8E12F-47A3-4374-A20D-1F547D2E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762750"/>
            <a:ext cx="1512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/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CDE165-AB65-4EBA-B354-F3D8892D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390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A8F99"/>
                </a:solidFill>
                <a:latin typeface="Cascadia Mono"/>
                <a:ea typeface="Cascadia Mono"/>
                <a:cs typeface="Cascadia Mono"/>
              </a:defRPr>
            </a:pPr>
            <a:r>
              <a:t>Suggested demo command</a:t>
            </a:r>
          </a:p>
        </p:txBody>
      </p:sp>
      <p:sp>
        <p:nvSpPr>
          <p:cNvPr id="28" name="demo-command-strip">
            <a:extLst xmlns:a="http://schemas.openxmlformats.org/drawingml/2006/main">
              <a:ext uri="{FF2B5EF4-FFF2-40B4-BE49-F238E27FC236}">
                <a16:creationId xmlns:a16="http://schemas.microsoft.com/office/drawing/2014/main" id="{9A8BC065-A24B-47D5-BDDE-AC895180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715250"/>
            <a:ext cx="7429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C219A-162D-440A-B904-9D8BAFEF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9438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6C8D2"/>
                </a:solidFill>
                <a:latin typeface="Cascadia Mono"/>
                <a:ea typeface="Cascadia Mono"/>
                <a:cs typeface="Cascadia Mono"/>
              </a:defRPr>
            </a:pPr>
            <a:r>
              <a:t>&gt; hermsec scan ./examples/vulnerable-python-app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F0FDAF-52F3-4161-8505-3890B74C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52475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4200" b="1" i="0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t>Questions?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ABAD5F-8DE5-4120-A6A4-D5AA4CAC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82867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Group G4 / Security Insider Lab II</a:t>
            </a:r>
          </a:p>
        </p:txBody>
      </p:sp>
      <p:sp>
        <p:nvSpPr>
          <p:cNvPr id="3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AE7053-D20C-481F-873B-E5130B74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95250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4748B"/>
                </a:solidFill>
                <a:latin typeface="Cascadia Mono"/>
                <a:ea typeface="Cascadia Mono"/>
                <a:cs typeface="Cascadia Mono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37818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2026-04-29T07:05:02.9370000Z</dcterms:created>
  <dcterms:modified xsi:type="dcterms:W3CDTF">2026-04-29T07:05:02.9370000Z</dcterms:modified>
</coreProperties>
</file>